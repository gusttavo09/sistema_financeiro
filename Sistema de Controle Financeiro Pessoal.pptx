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282" r:id="rId7"/>
    <p:sldId id="319" r:id="rId8"/>
    <p:sldId id="321" r:id="rId9"/>
    <p:sldId id="324" r:id="rId10"/>
    <p:sldId id="326" r:id="rId11"/>
    <p:sldId id="328" r:id="rId12"/>
    <p:sldId id="329" r:id="rId13"/>
    <p:sldId id="297" r:id="rId14"/>
  </p:sldIdLst>
  <p:sldSz cx="12192000" cy="6858000"/>
  <p:notesSz cx="13716000" cy="24384000"/>
  <p:defaultTextStyle>
    <a:defPPr rtl="0">
      <a:defRPr lang="pt-BR"/>
    </a:defPPr>
    <a:lvl1pPr marL="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5388" autoAdjust="0"/>
  </p:normalViewPr>
  <p:slideViewPr>
    <p:cSldViewPr snapToGrid="0" snapToObjects="1">
      <p:cViewPr varScale="1">
        <p:scale>
          <a:sx n="60" d="100"/>
          <a:sy n="60" d="100"/>
        </p:scale>
        <p:origin x="96" y="133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41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DB32ED1-F310-4D41-8674-6BB1DBCD8C01}" type="datetimeyyyy">
              <a:rPr lang="pt-BR" smtClean="0"/>
              <a:t>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420BD0AB-C59E-4A46-83D3-F07787446B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5125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871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7464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076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m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a Liv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a Liv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4" name="Imagem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pt-B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pt-BR" sz="18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orma livre: Forma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15" name="Forma livre: Forma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m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" name="Título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36" name="Forma Livre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Forma Liv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lvl="0" algn="ctr" rtl="0"/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o texto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52" name="Espaço Reservado para Imagem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m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9" name="Forma Liv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1" name="Forma Liv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3" name="Imagem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o Número do Slid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Imagem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3" name="Imagem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Imagem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9" name="Imagem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Forma Livre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o Número do Slid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3" name="Espaço Reservado para Conteúdo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5" name="Espaço Reservado para Conteúdo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pt-B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pt-B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pt-B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indent="-283464">
              <a:spcBef>
                <a:spcPts val="1000"/>
              </a:spcBef>
              <a:defRPr lang="pt-BR" sz="1800"/>
            </a:lvl2pPr>
            <a:lvl3pPr indent="-283464">
              <a:spcBef>
                <a:spcPts val="1000"/>
              </a:spcBef>
              <a:defRPr lang="pt-BR" sz="1800"/>
            </a:lvl3pPr>
            <a:lvl4pPr indent="-283464">
              <a:spcBef>
                <a:spcPts val="1000"/>
              </a:spcBef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1" name="Espaço Reservado para Imagem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orma livre: Forma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21" name="Forma livre: Forma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2" name="Forma livre: Forma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m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44" name="Espaço Reservado para o Número do Slid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6" name="Imagem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21" name="Imagem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a Livre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0" name="Espaço Reservado para Conteúdo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Imagem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Texto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800"/>
            </a:lvl1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pt-BR" sz="1800"/>
            </a:lvl1pPr>
            <a:lvl2pPr>
              <a:defRPr lang="pt-BR" sz="1800"/>
            </a:lvl2pPr>
            <a:lvl3pPr>
              <a:defRPr lang="pt-BR" sz="1800"/>
            </a:lvl3pPr>
            <a:lvl4pPr>
              <a:defRPr lang="pt-BR" sz="1800"/>
            </a:lvl4pPr>
            <a:lvl5pPr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Elemento gráfico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9" name="Forma Liv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6" name="Espaço Reservado para Conteúdo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Conteúdo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7" name="Espaço Reservado para o Número do Slid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pic>
        <p:nvPicPr>
          <p:cNvPr id="43" name="Elemento gráfico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Elemento gráfico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m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9" name="Imagem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pt-BR"/>
            </a:def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pt-BR" sz="3200"/>
            </a:lvl1pPr>
            <a:lvl2pPr>
              <a:defRPr lang="pt-BR" sz="2800"/>
            </a:lvl2pPr>
            <a:lvl3pPr>
              <a:defRPr lang="pt-BR" sz="2400"/>
            </a:lvl3pPr>
            <a:lvl4pPr>
              <a:defRPr lang="pt-BR" sz="2000"/>
            </a:lvl4pPr>
            <a:lvl5pPr>
              <a:defRPr lang="pt-BR" sz="2000"/>
            </a:lvl5pPr>
            <a:lvl6pPr>
              <a:defRPr lang="pt-BR" sz="2000"/>
            </a:lvl6pPr>
            <a:lvl7pPr>
              <a:defRPr lang="pt-BR" sz="2000"/>
            </a:lvl7pPr>
            <a:lvl8pPr>
              <a:defRPr lang="pt-BR" sz="2000"/>
            </a:lvl8pPr>
            <a:lvl9pPr>
              <a:defRPr lang="pt-BR" sz="2000"/>
            </a:lvl9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pt-BR" sz="2800"/>
            </a:lvl1pPr>
            <a:lvl2pPr marL="457200" indent="0">
              <a:buNone/>
              <a:defRPr lang="pt-BR" sz="2800"/>
            </a:lvl2pPr>
            <a:lvl3pPr marL="914400" indent="0">
              <a:buNone/>
              <a:defRPr lang="pt-BR" sz="2400"/>
            </a:lvl3pPr>
            <a:lvl4pPr marL="1371600" indent="0">
              <a:buNone/>
              <a:defRPr lang="pt-BR" sz="2000"/>
            </a:lvl4pPr>
            <a:lvl5pPr marL="1828800" indent="0">
              <a:buNone/>
              <a:defRPr lang="pt-BR" sz="2000"/>
            </a:lvl5pPr>
            <a:lvl6pPr marL="2286000" indent="0">
              <a:buNone/>
              <a:defRPr lang="pt-BR" sz="2000"/>
            </a:lvl6pPr>
            <a:lvl7pPr marL="2743200" indent="0">
              <a:buNone/>
              <a:defRPr lang="pt-BR" sz="2000"/>
            </a:lvl7pPr>
            <a:lvl8pPr marL="3200400" indent="0">
              <a:buNone/>
              <a:defRPr lang="pt-BR" sz="2000"/>
            </a:lvl8pPr>
            <a:lvl9pPr marL="3657600" indent="0">
              <a:buNone/>
              <a:defRPr lang="pt-BR" sz="2000"/>
            </a:lvl9pPr>
          </a:lstStyle>
          <a:p>
            <a:pPr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pt-B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pt-B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383" y="818788"/>
            <a:ext cx="7925233" cy="3831221"/>
          </a:xfrm>
        </p:spPr>
        <p:txBody>
          <a:bodyPr rtlCol="0" anchor="ctr"/>
          <a:lstStyle>
            <a:defPPr>
              <a:defRPr lang="pt-BR"/>
            </a:defPPr>
          </a:lstStyle>
          <a:p>
            <a:pPr rtl="0"/>
            <a:r>
              <a:rPr lang="pt-BR" dirty="0"/>
              <a:t>Sistema de Controle Financeiro Pessoal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AE4E4B-AECE-40D5-94D0-B1BA2A4F3B25}"/>
              </a:ext>
            </a:extLst>
          </p:cNvPr>
          <p:cNvSpPr txBox="1"/>
          <p:nvPr/>
        </p:nvSpPr>
        <p:spPr>
          <a:xfrm>
            <a:off x="3751718" y="5945409"/>
            <a:ext cx="468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Integrantes: Gustavo Sarmento, Renan Batista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457199"/>
            <a:ext cx="6583680" cy="153135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Objetivo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91740"/>
            <a:ext cx="6972300" cy="3207344"/>
          </a:xfrm>
        </p:spPr>
        <p:txBody>
          <a:bodyPr rtlCol="0">
            <a:normAutofit fontScale="85000" lnSpcReduction="20000"/>
          </a:bodyPr>
          <a:lstStyle>
            <a:defPPr>
              <a:defRPr lang="pt-BR"/>
            </a:defPPr>
          </a:lstStyle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Permitir que o usuário gerencie seus gastos mensais.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Exibir estatísticas e gráficos financeiros.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Ordenar categorias e gastos usando algoritmos implementados manualmente.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Fornecer filtros avançados e ranking das categorias mais caras.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0665" y="802690"/>
            <a:ext cx="8248835" cy="99416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Funcionalidades Principais</a:t>
            </a:r>
          </a:p>
        </p:txBody>
      </p:sp>
      <p:sp>
        <p:nvSpPr>
          <p:cNvPr id="23" name="Espaço Reservado para o Número do Slide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3</a:t>
            </a:fld>
            <a:endParaRPr lang="pt-B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3DEF95-CEC0-4754-89DA-2C29B509EAC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990665" y="2013757"/>
            <a:ext cx="889653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CRUD de transações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Dashboard com totais, saldo e percentual gasto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Ranking de categorias usando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QuickSort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Gráficos com Chart.js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Filtros: mais novo, mais antigo, maior valor, menor valor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Ordenação manual com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QuickSort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Busca parcial com Busca Linear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Estruturas de Dados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4</a:t>
            </a:fld>
            <a:endParaRPr lang="pt-BR" dirty="0"/>
          </a:p>
        </p:txBody>
      </p:sp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E53DE465-2252-4CA0-8486-DA89EAD31FC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92508598"/>
              </p:ext>
            </p:extLst>
          </p:nvPr>
        </p:nvGraphicFramePr>
        <p:xfrm>
          <a:off x="1589453" y="2331958"/>
          <a:ext cx="7226301" cy="3132130"/>
        </p:xfrm>
        <a:graphic>
          <a:graphicData uri="http://schemas.openxmlformats.org/drawingml/2006/table">
            <a:tbl>
              <a:tblPr/>
              <a:tblGrid>
                <a:gridCol w="2408767">
                  <a:extLst>
                    <a:ext uri="{9D8B030D-6E8A-4147-A177-3AD203B41FA5}">
                      <a16:colId xmlns:a16="http://schemas.microsoft.com/office/drawing/2014/main" val="2657669940"/>
                    </a:ext>
                  </a:extLst>
                </a:gridCol>
                <a:gridCol w="2408767">
                  <a:extLst>
                    <a:ext uri="{9D8B030D-6E8A-4147-A177-3AD203B41FA5}">
                      <a16:colId xmlns:a16="http://schemas.microsoft.com/office/drawing/2014/main" val="2525436689"/>
                    </a:ext>
                  </a:extLst>
                </a:gridCol>
                <a:gridCol w="2408767">
                  <a:extLst>
                    <a:ext uri="{9D8B030D-6E8A-4147-A177-3AD203B41FA5}">
                      <a16:colId xmlns:a16="http://schemas.microsoft.com/office/drawing/2014/main" val="4200313183"/>
                    </a:ext>
                  </a:extLst>
                </a:gridCol>
              </a:tblGrid>
              <a:tr h="445762"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Uso</a:t>
                      </a:r>
                    </a:p>
                  </a:txBody>
                  <a:tcPr marL="54372" marR="54372" marT="27186" marB="27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Estrutura</a:t>
                      </a:r>
                    </a:p>
                  </a:txBody>
                  <a:tcPr marL="54372" marR="54372" marT="27186" marB="27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Motivo</a:t>
                      </a:r>
                    </a:p>
                  </a:txBody>
                  <a:tcPr marL="54372" marR="54372" marT="27186" marB="27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930447"/>
                  </a:ext>
                </a:extLst>
              </a:tr>
              <a:tr h="445762"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Transações</a:t>
                      </a:r>
                    </a:p>
                  </a:txBody>
                  <a:tcPr marL="54372" marR="54372" marT="27186" marB="271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 i="0" dirty="0" err="1">
                          <a:solidFill>
                            <a:schemeClr val="accent6"/>
                          </a:solidFill>
                          <a:latin typeface="+mj-lt"/>
                        </a:rPr>
                        <a:t>Array</a:t>
                      </a:r>
                      <a:endParaRPr lang="pt-BR" sz="1800" b="0" i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marL="54372" marR="54372" marT="27186" marB="271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Fácil para ordenar e filtrar</a:t>
                      </a:r>
                    </a:p>
                  </a:txBody>
                  <a:tcPr marL="54372" marR="54372" marT="27186" marB="271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185974"/>
                  </a:ext>
                </a:extLst>
              </a:tr>
              <a:tr h="445762"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Categorias</a:t>
                      </a:r>
                    </a:p>
                  </a:txBody>
                  <a:tcPr marL="54372" marR="54372" marT="27186" marB="271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Map (</a:t>
                      </a:r>
                      <a:r>
                        <a:rPr lang="pt-BR" sz="1800" b="0" i="0" dirty="0" err="1">
                          <a:solidFill>
                            <a:schemeClr val="accent6"/>
                          </a:solidFill>
                          <a:latin typeface="+mj-lt"/>
                        </a:rPr>
                        <a:t>HashMap</a:t>
                      </a:r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)</a:t>
                      </a:r>
                    </a:p>
                  </a:txBody>
                  <a:tcPr marL="54372" marR="54372" marT="27186" marB="271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Acesso O(1) para somar valores</a:t>
                      </a:r>
                    </a:p>
                  </a:txBody>
                  <a:tcPr marL="54372" marR="54372" marT="27186" marB="271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930708"/>
                  </a:ext>
                </a:extLst>
              </a:tr>
              <a:tr h="782354"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Busca Local</a:t>
                      </a:r>
                    </a:p>
                  </a:txBody>
                  <a:tcPr marL="54372" marR="54372" marT="27186" marB="271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 i="0" dirty="0" err="1">
                          <a:solidFill>
                            <a:schemeClr val="accent6"/>
                          </a:solidFill>
                          <a:latin typeface="+mj-lt"/>
                        </a:rPr>
                        <a:t>Array</a:t>
                      </a:r>
                      <a:endParaRPr lang="pt-BR" sz="1800" b="0" i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 marL="54372" marR="54372" marT="27186" marB="271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Simples e eficiente para listas médias</a:t>
                      </a:r>
                    </a:p>
                  </a:txBody>
                  <a:tcPr marL="54372" marR="54372" marT="27186" marB="271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417386"/>
                  </a:ext>
                </a:extLst>
              </a:tr>
              <a:tr h="445762"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Dashboard</a:t>
                      </a:r>
                    </a:p>
                  </a:txBody>
                  <a:tcPr marL="54372" marR="54372" marT="27186" marB="2718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Variáveis numéricas</a:t>
                      </a:r>
                    </a:p>
                  </a:txBody>
                  <a:tcPr marL="54372" marR="54372" marT="27186" marB="271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 i="0" dirty="0">
                          <a:solidFill>
                            <a:schemeClr val="accent6"/>
                          </a:solidFill>
                          <a:latin typeface="+mj-lt"/>
                        </a:rPr>
                        <a:t>Cálculo rápido e direto</a:t>
                      </a:r>
                    </a:p>
                  </a:txBody>
                  <a:tcPr marL="54372" marR="54372" marT="27186" marB="271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955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10048537" cy="99974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Equação de Recorrência (</a:t>
            </a:r>
            <a:r>
              <a:rPr lang="pt-BR" dirty="0" err="1"/>
              <a:t>QuickSort</a:t>
            </a:r>
            <a:r>
              <a:rPr lang="pt-BR" dirty="0"/>
              <a:t>)</a:t>
            </a:r>
          </a:p>
        </p:txBody>
      </p:sp>
      <p:sp>
        <p:nvSpPr>
          <p:cNvPr id="12" name="Espaço Reservado para Conteúdo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3370381"/>
            <a:ext cx="5337969" cy="218597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Representa a divisão do </a:t>
            </a:r>
            <a:r>
              <a:rPr lang="pt-BR" dirty="0" err="1"/>
              <a:t>array</a:t>
            </a:r>
            <a:r>
              <a:rPr lang="pt-BR" dirty="0"/>
              <a:t> em duas partes.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Melhor caso:</a:t>
            </a:r>
            <a:r>
              <a:rPr lang="pt-BR" dirty="0"/>
              <a:t> O(n log 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Caso médio:</a:t>
            </a:r>
            <a:r>
              <a:rPr lang="pt-BR" dirty="0"/>
              <a:t> O(n log 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Pior caso:</a:t>
            </a:r>
            <a:r>
              <a:rPr lang="pt-BR" dirty="0"/>
              <a:t> O(n²)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Único algoritmo recursivo do projeto.</a:t>
            </a:r>
          </a:p>
        </p:txBody>
      </p:sp>
      <p:sp>
        <p:nvSpPr>
          <p:cNvPr id="13" name="Espaço Reservado para Conteúdo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0564" y="2548680"/>
            <a:ext cx="4223935" cy="815953"/>
          </a:xfrm>
        </p:spPr>
        <p:txBody>
          <a:bodyPr rtlCol="0"/>
          <a:lstStyle>
            <a:defPPr>
              <a:defRPr lang="pt-BR"/>
            </a:defPPr>
          </a:lstStyle>
          <a:p>
            <a:pPr marL="0" indent="0" rtl="0">
              <a:buNone/>
            </a:pPr>
            <a:r>
              <a:rPr lang="pt-BR" dirty="0"/>
              <a:t>T</a:t>
            </a:r>
            <a:r>
              <a:rPr lang="pt-BR" sz="2000" b="1" dirty="0"/>
              <a:t>(n) = T(k) + T(n − k − 1) + O(n)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10048537" cy="99974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Algoritmos Usados</a:t>
            </a:r>
          </a:p>
        </p:txBody>
      </p:sp>
      <p:sp>
        <p:nvSpPr>
          <p:cNvPr id="12" name="Espaço Reservado para Conteúdo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6863" y="3084914"/>
            <a:ext cx="5337969" cy="170980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2000" b="1" dirty="0">
                <a:latin typeface="+mj-lt"/>
              </a:rPr>
              <a:t>Busca Linear — Pesquisa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Percorre cada item da lista.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Complexidade: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Busca parcial e flexível por descrição.</a:t>
            </a:r>
          </a:p>
        </p:txBody>
      </p:sp>
      <p:sp>
        <p:nvSpPr>
          <p:cNvPr id="13" name="Espaço Reservado para Conteúdo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574832" y="2956141"/>
            <a:ext cx="5162056" cy="2838322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r>
              <a:rPr lang="pt-BR" sz="2000" b="1" dirty="0" err="1">
                <a:latin typeface="+mj-lt"/>
              </a:rPr>
              <a:t>QuickSort</a:t>
            </a:r>
            <a:r>
              <a:rPr lang="pt-BR" sz="2000" b="1" dirty="0">
                <a:latin typeface="+mj-lt"/>
              </a:rPr>
              <a:t> — Ordenação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Usado para ordenar transações e ranking de categorias.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Complexidade média: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O(n log n)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Adaptado para ordenar por valor ou data.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0452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10048537" cy="99974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Recursividade no Sistema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7</a:t>
            </a:fld>
            <a:endParaRPr lang="pt-B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8F7CBC-6F70-44CE-9405-1864A5FB417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39369" y="2486466"/>
            <a:ext cx="503546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Aparece apenas no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QuickSort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 algoritmo divide o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array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em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sublistas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 chama a si mesmo.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Caso base: lista com 0 ou 1 elemento.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Exemplo clássico de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recursão direta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7606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10048537" cy="99974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Técnicas Especiais Utilizadas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8</a:t>
            </a:fld>
            <a:endParaRPr lang="pt-B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8F7CBC-6F70-44CE-9405-1864A5FB417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50564" y="2369434"/>
            <a:ext cx="8431349" cy="3452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pt-BR" sz="2000" b="1" dirty="0"/>
              <a:t>Divisão e Conquista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Aplicada no </a:t>
            </a:r>
            <a:r>
              <a:rPr lang="pt-BR" sz="2000" dirty="0" err="1"/>
              <a:t>QuickSort</a:t>
            </a:r>
            <a:r>
              <a:rPr lang="pt-BR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Divide o problema → resolve partes menores → combina.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Melhora o desempenho da ordenação.</a:t>
            </a:r>
          </a:p>
          <a:p>
            <a:pPr marL="0" indent="0">
              <a:buNone/>
            </a:pPr>
            <a:r>
              <a:rPr lang="pt-BR" sz="2000" b="1" dirty="0" err="1"/>
              <a:t>Debounce</a:t>
            </a: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Usado no </a:t>
            </a:r>
            <a:r>
              <a:rPr lang="pt-BR" sz="2000" dirty="0" err="1"/>
              <a:t>frontend</a:t>
            </a:r>
            <a:r>
              <a:rPr lang="pt-BR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Evita buscas repetidas enquanto o usuário digita.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Reduz processamento e melhora a experiência.</a:t>
            </a:r>
          </a:p>
        </p:txBody>
      </p:sp>
    </p:spTree>
    <p:extLst>
      <p:ext uri="{BB962C8B-B14F-4D97-AF65-F5344CB8AC3E}">
        <p14:creationId xmlns:p14="http://schemas.microsoft.com/office/powerpoint/2010/main" val="1550209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745" y="806754"/>
            <a:ext cx="11238510" cy="99974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Complexidade Assintótica do Sistema</a:t>
            </a:r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9</a:t>
            </a:fld>
            <a:endParaRPr lang="pt-BR" dirty="0"/>
          </a:p>
        </p:txBody>
      </p:sp>
      <p:graphicFrame>
        <p:nvGraphicFramePr>
          <p:cNvPr id="17" name="Tabela 17">
            <a:extLst>
              <a:ext uri="{FF2B5EF4-FFF2-40B4-BE49-F238E27FC236}">
                <a16:creationId xmlns:a16="http://schemas.microsoft.com/office/drawing/2014/main" id="{95F6055A-C022-4C15-9304-734848377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362067"/>
              </p:ext>
            </p:extLst>
          </p:nvPr>
        </p:nvGraphicFramePr>
        <p:xfrm>
          <a:off x="1240079" y="1919232"/>
          <a:ext cx="10599310" cy="413201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19862">
                  <a:extLst>
                    <a:ext uri="{9D8B030D-6E8A-4147-A177-3AD203B41FA5}">
                      <a16:colId xmlns:a16="http://schemas.microsoft.com/office/drawing/2014/main" val="3194115431"/>
                    </a:ext>
                  </a:extLst>
                </a:gridCol>
                <a:gridCol w="2119862">
                  <a:extLst>
                    <a:ext uri="{9D8B030D-6E8A-4147-A177-3AD203B41FA5}">
                      <a16:colId xmlns:a16="http://schemas.microsoft.com/office/drawing/2014/main" val="182912774"/>
                    </a:ext>
                  </a:extLst>
                </a:gridCol>
                <a:gridCol w="2119862">
                  <a:extLst>
                    <a:ext uri="{9D8B030D-6E8A-4147-A177-3AD203B41FA5}">
                      <a16:colId xmlns:a16="http://schemas.microsoft.com/office/drawing/2014/main" val="1619194549"/>
                    </a:ext>
                  </a:extLst>
                </a:gridCol>
                <a:gridCol w="2119862">
                  <a:extLst>
                    <a:ext uri="{9D8B030D-6E8A-4147-A177-3AD203B41FA5}">
                      <a16:colId xmlns:a16="http://schemas.microsoft.com/office/drawing/2014/main" val="4107003958"/>
                    </a:ext>
                  </a:extLst>
                </a:gridCol>
                <a:gridCol w="2119862">
                  <a:extLst>
                    <a:ext uri="{9D8B030D-6E8A-4147-A177-3AD203B41FA5}">
                      <a16:colId xmlns:a16="http://schemas.microsoft.com/office/drawing/2014/main" val="2195525923"/>
                    </a:ext>
                  </a:extLst>
                </a:gridCol>
              </a:tblGrid>
              <a:tr h="688669">
                <a:tc>
                  <a:txBody>
                    <a:bodyPr/>
                    <a:lstStyle/>
                    <a:p>
                      <a:r>
                        <a:rPr lang="pt-BR" dirty="0"/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Melhor Caso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Caso 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Pior caso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BIG-O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142614"/>
                  </a:ext>
                </a:extLst>
              </a:tr>
              <a:tr h="688669">
                <a:tc>
                  <a:txBody>
                    <a:bodyPr/>
                    <a:lstStyle/>
                    <a:p>
                      <a:r>
                        <a:rPr lang="pt-BR" dirty="0"/>
                        <a:t>Criar/Editar/</a:t>
                      </a:r>
                      <a:br>
                        <a:rPr lang="pt-BR" dirty="0"/>
                      </a:br>
                      <a:r>
                        <a:rPr lang="pt-BR" dirty="0"/>
                        <a:t>Excluir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953876"/>
                  </a:ext>
                </a:extLst>
              </a:tr>
              <a:tr h="688669">
                <a:tc>
                  <a:txBody>
                    <a:bodyPr/>
                    <a:lstStyle/>
                    <a:p>
                      <a:r>
                        <a:rPr lang="pt-BR" dirty="0"/>
                        <a:t>Filtrar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906324"/>
                  </a:ext>
                </a:extLst>
              </a:tr>
              <a:tr h="688669">
                <a:tc>
                  <a:txBody>
                    <a:bodyPr/>
                    <a:lstStyle/>
                    <a:p>
                      <a:r>
                        <a:rPr lang="pt-BR" dirty="0"/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745472"/>
                  </a:ext>
                </a:extLst>
              </a:tr>
              <a:tr h="688669">
                <a:tc>
                  <a:txBody>
                    <a:bodyPr/>
                    <a:lstStyle/>
                    <a:p>
                      <a:r>
                        <a:rPr lang="pt-BR" dirty="0"/>
                        <a:t>Paginação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O(k)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106288"/>
                  </a:ext>
                </a:extLst>
              </a:tr>
              <a:tr h="688669">
                <a:tc>
                  <a:txBody>
                    <a:bodyPr/>
                    <a:lstStyle/>
                    <a:p>
                      <a:r>
                        <a:rPr lang="pt-BR" dirty="0" err="1"/>
                        <a:t>QuickSort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O(n 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515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965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3"/>
            <a:ext cx="4989094" cy="626092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Conclusão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023026-96CC-51D4-59EF-9BA31D30031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14401" y="2077261"/>
            <a:ext cx="1185980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sistema utiliza algoritmos eficientes para ordenação e busca.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QuickSort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trouxe alto desempenho na ordenação de dados.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busca linear garantiu simplicidade e flexibilidade.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uso de Divisão e Conquista 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debounce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tornou a aplicação leve e responsiva.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projeto demonstra bem a aplicação prática de Algoritmos e Complexidade.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2_TF78438558_Win32" id="{A0A66991-B50D-4EFF-8B65-B5A110988411}" vid="{FC4C1A53-E1A3-4FF8-9D09-7590C6BEDD1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{20B0AB38-260D-495F-B279-0DB4C7ADAD0E}TF8a9b5915-b8c7-461e-8cdd-693d48b5e323c6a6caed_win32-b6157470412c</Template>
  <TotalTime>46</TotalTime>
  <Words>513</Words>
  <Application>Microsoft Office PowerPoint</Application>
  <PresentationFormat>Widescreen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Sabon Next LT</vt:lpstr>
      <vt:lpstr>Personalizado</vt:lpstr>
      <vt:lpstr>Sistema de Controle Financeiro Pessoal</vt:lpstr>
      <vt:lpstr>Objetivo do Projeto</vt:lpstr>
      <vt:lpstr>Funcionalidades Principais</vt:lpstr>
      <vt:lpstr>Estruturas de Dados</vt:lpstr>
      <vt:lpstr>Equação de Recorrência (QuickSort)</vt:lpstr>
      <vt:lpstr>Algoritmos Usados</vt:lpstr>
      <vt:lpstr>Recursividade no Sistema</vt:lpstr>
      <vt:lpstr>Técnicas Especiais Utilizadas</vt:lpstr>
      <vt:lpstr>Complexidade Assintótica do Sistema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Controle Financeiro Pessoal</dc:title>
  <dc:subject/>
  <dc:creator>Gustavo Sarmento Santos</dc:creator>
  <cp:lastModifiedBy>Gustavo sarmento</cp:lastModifiedBy>
  <cp:revision>5</cp:revision>
  <dcterms:created xsi:type="dcterms:W3CDTF">2025-11-25T18:00:26Z</dcterms:created>
  <dcterms:modified xsi:type="dcterms:W3CDTF">2025-11-25T20:04:11Z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